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>
        <p:scale>
          <a:sx n="89" d="100"/>
          <a:sy n="89" d="100"/>
        </p:scale>
        <p:origin x="644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7359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54864" cy="514350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7377">
              <a:alpha val="25000"/>
            </a:srgbClr>
          </a:solidFill>
          <a:ln w="12700">
            <a:solidFill>
              <a:srgbClr val="0D7377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CS27 — The Relational Model &amp; Databases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End-of-Semester Group Project — Scenario 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5303520" cy="1920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9077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 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21868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OUEDRAOGO S. Landry Romuald  (Group Leader)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346557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BIRBA Casimir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71246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DIALLO Maimata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395935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SANFO Madi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42062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YAMEOGO Leonne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445312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ZONGO Abdel Sadeck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481888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Burkina Institute of Technology  |  March 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13716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📚</a:t>
            </a:r>
            <a:endParaRPr lang="en-US" sz="7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548640" cy="502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selected Scenario 4 — Library Management System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1600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160020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173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" y="1920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3317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books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their details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93392" y="1417320"/>
            <a:ext cx="1600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93392" y="1417320"/>
            <a:ext cx="160020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14173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993392" y="1920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93392" y="23317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library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12464" y="1417320"/>
            <a:ext cx="1600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12464" y="1417320"/>
            <a:ext cx="160020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12464" y="14173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712464" y="1920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12464" y="23317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of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31536" y="1417320"/>
            <a:ext cx="1600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31536" y="1417320"/>
            <a:ext cx="160020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31536" y="14173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31536" y="1920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31536" y="23317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50608" y="1417320"/>
            <a:ext cx="1600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50608" y="1417320"/>
            <a:ext cx="160020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50608" y="14173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150608" y="1920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50608" y="23317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 for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returns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859536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Model, implement and query a fully functional relational database to manage a library system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&amp; Attributes 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548640" cy="502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6012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74320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60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307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ID_AUTHOR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536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Auto-incremented INT — unique per author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0040" y="1810512"/>
            <a:ext cx="25603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470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FIRST_NAME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20482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LAST_NAME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22494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24505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NATIONALITY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36392" y="96012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36392" y="960120"/>
            <a:ext cx="274320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36392" y="960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27832" y="1307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ID_BOOK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27832" y="1536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Auto-incremented INT — one ID per book title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227832" y="1810512"/>
            <a:ext cx="25603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27832" y="18470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TITLE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27832" y="20482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PUBLISHER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27832" y="22494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YEAR_PUBLISHED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27832" y="24505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COPIES_TOTAL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27832" y="26517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COPIES_AVAILABLE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44184" y="96012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44184" y="960120"/>
            <a:ext cx="274320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44184" y="960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35624" y="1307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ID_MEMBERS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35624" y="1536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Auto-incremented INT — unique per member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135624" y="1810512"/>
            <a:ext cx="25603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35624" y="18470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FIRST_NAME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35624" y="20482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LAST_NAME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35624" y="22494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35624" y="24505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PHONE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35624" y="26517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MEMBERSHIP_DATE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" y="306324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28600" y="3063240"/>
            <a:ext cx="274320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BORROWING_RECORDS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0040" y="34107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RECORD_ID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20040" y="36393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Auto-incremented INT — unique per borrowing event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20040" y="3913632"/>
            <a:ext cx="25603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39502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BORROW_DATE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20040" y="41513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DUE_DATE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20040" y="43525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RETURN_DATE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36392" y="306324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36392" y="3063240"/>
            <a:ext cx="274320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36392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227832" y="34107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FINE_ID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227832" y="36393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Auto-incremented INT — one fine per late record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227832" y="3913632"/>
            <a:ext cx="25603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27832" y="39502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AMOUNT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227832" y="41513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PAID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227832" y="43525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FINE_DATE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Primary Key Justification 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548640" cy="502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18288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33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051560"/>
            <a:ext cx="91440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051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29000" y="1033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34416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ID_AUTHOR in BOOKS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89320" y="1005840"/>
            <a:ext cx="2788920" cy="804672"/>
          </a:xfrm>
          <a:prstGeom prst="rect">
            <a:avLst/>
          </a:prstGeom>
          <a:solidFill>
            <a:srgbClr val="0D7377">
              <a:alpha val="1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0515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ID_AUTHOR chosen as PK: each author has a unique identity independent of their name.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196596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965960"/>
            <a:ext cx="18288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039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23160" y="2057400"/>
            <a:ext cx="9144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2057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2039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BORROWING_RECORDS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23500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ID_BOOK in BORROWING_RECORDS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89320" y="2011680"/>
            <a:ext cx="2788920" cy="804672"/>
          </a:xfrm>
          <a:prstGeom prst="rect">
            <a:avLst/>
          </a:prstGeom>
          <a:solidFill>
            <a:srgbClr val="1B2A4A">
              <a:alpha val="10000"/>
            </a:srgbClr>
          </a:solidFill>
          <a:ln w="12700">
            <a:solidFill>
              <a:srgbClr val="1B2A4A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20574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ID_BOOK chosen as PK: a book title may exist in multiple editions — ID ensures uniqueness.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297180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971800"/>
            <a:ext cx="18288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044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23160" y="3063240"/>
            <a:ext cx="91440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23160" y="3063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29000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BORROWING_RECORDS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33558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ID_MEMBERS in BORROWING_RECORDS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89320" y="3017520"/>
            <a:ext cx="2788920" cy="804672"/>
          </a:xfrm>
          <a:prstGeom prst="rect">
            <a:avLst/>
          </a:prstGeom>
          <a:solidFill>
            <a:srgbClr val="0D7377">
              <a:alpha val="1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30632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ID_MEMBERS chosen as PK: two members may share the same name — ID avoids confusion.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" y="397764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977640"/>
            <a:ext cx="182880" cy="91440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050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BORROWING_RECORDS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423160" y="4069080"/>
            <a:ext cx="914400" cy="25603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23160" y="4069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29000" y="4050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43616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RECORD_ID in FINES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89320" y="4023360"/>
            <a:ext cx="2788920" cy="804672"/>
          </a:xfrm>
          <a:prstGeom prst="rect">
            <a:avLst/>
          </a:prstGeom>
          <a:solidFill>
            <a:srgbClr val="F2A900">
              <a:alpha val="10000"/>
            </a:srgbClr>
          </a:solidFill>
          <a:ln w="12700">
            <a:solidFill>
              <a:srgbClr val="F2A900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80760" y="4069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RECORD_ID chosen as PK: each borrowing event is unique — one fine maximum per event.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Data Model (MCD) 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548640" cy="502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907792" y="1691640"/>
            <a:ext cx="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749040" y="2569464"/>
            <a:ext cx="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926080" y="3866083"/>
            <a:ext cx="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82880" y="4754880"/>
            <a:ext cx="8778240" cy="256032"/>
          </a:xfrm>
          <a:prstGeom prst="rect">
            <a:avLst/>
          </a:prstGeom>
          <a:solidFill>
            <a:srgbClr val="1B2A4A">
              <a:alpha val="15000"/>
            </a:srgbClr>
          </a:solidFill>
          <a:ln w="12700">
            <a:solidFill>
              <a:srgbClr val="1B2A4A">
                <a:alpha val="15000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74320" y="477316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Primary Key  |  Rectangles = Entities  |  Colored boxes = Relationships  |  Numbers = Cardinalities (1 or N)</a:t>
            </a:r>
            <a:endParaRPr lang="en-US" sz="850" dirty="0"/>
          </a:p>
        </p:txBody>
      </p:sp>
      <p:pic>
        <p:nvPicPr>
          <p:cNvPr id="97" name="Image 96">
            <a:extLst>
              <a:ext uri="{FF2B5EF4-FFF2-40B4-BE49-F238E27FC236}">
                <a16:creationId xmlns:a16="http://schemas.microsoft.com/office/drawing/2014/main" id="{F60B3C8F-02C3-5AC5-AAC0-C508D4115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6676"/>
            <a:ext cx="9144000" cy="3781044"/>
          </a:xfrm>
          <a:prstGeom prst="rect">
            <a:avLst/>
          </a:prstGeom>
        </p:spPr>
      </p:pic>
      <p:sp>
        <p:nvSpPr>
          <p:cNvPr id="98" name="Rectangle 97">
            <a:extLst>
              <a:ext uri="{FF2B5EF4-FFF2-40B4-BE49-F238E27FC236}">
                <a16:creationId xmlns:a16="http://schemas.microsoft.com/office/drawing/2014/main" id="{2A2BCFC1-20BC-52B7-777E-BF157CAE9D90}"/>
              </a:ext>
            </a:extLst>
          </p:cNvPr>
          <p:cNvSpPr/>
          <p:nvPr/>
        </p:nvSpPr>
        <p:spPr>
          <a:xfrm>
            <a:off x="8178800" y="4165600"/>
            <a:ext cx="965200" cy="3556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548640" cy="502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6012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01168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60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1444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Unnormalized Form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87452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books in one cell: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BOOK_TITLES = "Les Misérables, Beloved"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Non-atomic values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4160520"/>
            <a:ext cx="1828800" cy="502920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41879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Split into separate rows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58568" y="2468880"/>
            <a:ext cx="128016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04872" y="96012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04872" y="960120"/>
            <a:ext cx="2011680" cy="4114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04872" y="960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96312" y="1444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Normal Form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96312" y="187452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&amp; book details repeated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borrowing row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Partial dependencies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96312" y="4160520"/>
            <a:ext cx="1828800" cy="502920"/>
          </a:xfrm>
          <a:prstGeom prst="rect">
            <a:avLst/>
          </a:prstGeom>
          <a:solidFill>
            <a:srgbClr val="F2A900">
              <a:alpha val="15000"/>
            </a:srgbClr>
          </a:solidFill>
          <a:ln w="12700">
            <a:solidFill>
              <a:srgbClr val="F2A900">
                <a:alpha val="1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96312" y="41879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Separate MEMBERS &amp; BOOKS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34840" y="2468880"/>
            <a:ext cx="128016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81144" y="96012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81144" y="960120"/>
            <a:ext cx="201168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81144" y="960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72584" y="1444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Normal Form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72584" y="187452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details depend on BOOK,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AMOUNT/PAID mixed in borrowings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Transitive dependencies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72584" y="4160520"/>
            <a:ext cx="1828800" cy="502920"/>
          </a:xfrm>
          <a:prstGeom prst="rect">
            <a:avLst/>
          </a:prstGeom>
          <a:solidFill>
            <a:srgbClr val="0E7C7B">
              <a:alpha val="15000"/>
            </a:srgbClr>
          </a:solidFill>
          <a:ln w="12700">
            <a:solidFill>
              <a:srgbClr val="0E7C7B">
                <a:alpha val="1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72584" y="41879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Create AUTHORS &amp; FINES tables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11112" y="2468880"/>
            <a:ext cx="128016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57416" y="96012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57416" y="960120"/>
            <a:ext cx="201168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57416" y="960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48856" y="1444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Normal Form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48856" y="187452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clean tables: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· BOOKS · MEMBERS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BORROWING_RECORDS · FINES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48856" y="4160520"/>
            <a:ext cx="1828800" cy="502920"/>
          </a:xfrm>
          <a:prstGeom prst="rect">
            <a:avLst/>
          </a:prstGeom>
          <a:solidFill>
            <a:srgbClr val="27AE60">
              <a:alpha val="15000"/>
            </a:srgbClr>
          </a:solidFill>
          <a:ln w="12700">
            <a:solidFill>
              <a:srgbClr val="27AE60">
                <a:alpha val="1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48856" y="41879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Final normalized schema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 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548640" cy="502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6012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164592" cy="1234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0332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separated from BOOKS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author details inside BOOKS would repeat FIRST_NAME and LAST_NAME on every book row. A separate AUTHORS table eliminates this redundancy.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3886200" cy="228600"/>
          </a:xfrm>
          <a:prstGeom prst="rect">
            <a:avLst/>
          </a:prstGeom>
          <a:solidFill>
            <a:srgbClr val="0D7377">
              <a:alpha val="12000"/>
            </a:srgbClr>
          </a:solidFill>
          <a:ln w="12700">
            <a:solidFill>
              <a:srgbClr val="0D7377">
                <a:alpha val="1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928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Avoids data duplication — follows 3NF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960120"/>
            <a:ext cx="164592" cy="1234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10332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FINE_ID removed from BORROWING_RECORDS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37160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schema had FINE_ID in BORROWING_RECORDS AND RECORD_ID in FINES — creating a circular dependency that breaks INSERT operations.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37760" y="1874520"/>
            <a:ext cx="3886200" cy="228600"/>
          </a:xfrm>
          <a:prstGeom prst="rect">
            <a:avLst/>
          </a:prstGeom>
          <a:solidFill>
            <a:srgbClr val="0D7377">
              <a:alpha val="12000"/>
            </a:srgbClr>
          </a:solidFill>
          <a:ln w="12700">
            <a:solidFill>
              <a:srgbClr val="0D7377">
                <a:alpha val="1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8928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Circular dependency eliminated — cleaner referential integrity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28600" y="233172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331720"/>
            <a:ext cx="164592" cy="1234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4048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AUTO_INCREMENT on all Primary Keys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74320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AUTO_INCREMENT integers as PKs ensures every row gets a unique identifier automatically, without manual input or risk of collision.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246120"/>
            <a:ext cx="3886200" cy="228600"/>
          </a:xfrm>
          <a:prstGeom prst="rect">
            <a:avLst/>
          </a:prstGeom>
          <a:solidFill>
            <a:srgbClr val="0D7377">
              <a:alpha val="12000"/>
            </a:srgbClr>
          </a:solidFill>
          <a:ln w="12700">
            <a:solidFill>
              <a:srgbClr val="0D7377">
                <a:alpha val="1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2644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Guarantees uniqueness — simplifies INSERT statements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09160" y="233172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331720"/>
            <a:ext cx="164592" cy="1234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24048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RESTRICT on all Foreign Keys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274320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Restricting deletion of parent rows prevents orphaned records. For example, you cannot delete an AUTHOR who still has BOOKS referencing them.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937760" y="3246120"/>
            <a:ext cx="3886200" cy="228600"/>
          </a:xfrm>
          <a:prstGeom prst="rect">
            <a:avLst/>
          </a:prstGeom>
          <a:solidFill>
            <a:srgbClr val="0D7377">
              <a:alpha val="12000"/>
            </a:srgbClr>
          </a:solidFill>
          <a:ln w="12700">
            <a:solidFill>
              <a:srgbClr val="0D7377">
                <a:alpha val="1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2644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Referential integrity enforced — ERROR 1451 demonstrates this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28600" y="370332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28600" y="3703320"/>
            <a:ext cx="164592" cy="1234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37764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(CURRENT_DATE) on date columns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11480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MEMBERSHIP_DATE and BORROW_DATE default to today's date, reducing required fields during INSERT and reflecting real-world library operations.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4617720"/>
            <a:ext cx="3886200" cy="228600"/>
          </a:xfrm>
          <a:prstGeom prst="rect">
            <a:avLst/>
          </a:prstGeom>
          <a:solidFill>
            <a:srgbClr val="0D7377">
              <a:alpha val="12000"/>
            </a:srgbClr>
          </a:solidFill>
          <a:ln w="12700">
            <a:solidFill>
              <a:srgbClr val="0D7377">
                <a:alpha val="12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6360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Realistic defaults — fewer required fields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09160" y="370332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703320"/>
            <a:ext cx="164592" cy="1234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0" y="37764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DECIMAL(10,2) for AMOUNT in FINES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37760" y="411480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DECIMAL instead of FLOAT ensures precise monetary calculations without floating-point rounding errors — critical for financial data.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937760" y="4617720"/>
            <a:ext cx="3886200" cy="228600"/>
          </a:xfrm>
          <a:prstGeom prst="rect">
            <a:avLst/>
          </a:prstGeom>
          <a:solidFill>
            <a:srgbClr val="0D7377">
              <a:alpha val="12000"/>
            </a:srgbClr>
          </a:solidFill>
          <a:ln w="12700">
            <a:solidFill>
              <a:srgbClr val="0D7377">
                <a:alpha val="12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83480" y="46360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Accurate monetary values — no rounding errors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Implementation 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548640" cy="502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6052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— CREATE TABLE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307592"/>
            <a:ext cx="4160520" cy="3584448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71600"/>
            <a:ext cx="388620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MEMBERS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ID_MEMBERS  INT NOT NULL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AUTO_INCREMENT,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FIRST_NAME  VARCHAR(100) NOT NULL,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      VARCHAR(254) UNIQUE,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MEMBERSHIP_DATE DATE NOT NULL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 (CURRENT_DATE),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PRIMARY KEY (ID_MEMBERS)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60120"/>
            <a:ext cx="41605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601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— UPDATE, DELETE &amp; Integrity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307592"/>
            <a:ext cx="4160520" cy="3584448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371600"/>
            <a:ext cx="388620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UPDATE: reduce available copies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BOOKS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COPIES_AVAILABLE 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COPIES_AVAILABLE - 1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ID_BOOK = 3;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DELETE: remove paid fine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FINES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FINE_ID=5 AND PAID=TRUE;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VIOLATION → ERROR 1451 ✅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MEMBERS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ID_MEMBERS = 2;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Queries 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548640" cy="502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6012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74320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60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280160"/>
            <a:ext cx="2743200" cy="1554480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3258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TITLE, PUBLISHER,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COPIES_AVAILABLE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BOOKS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COPIES_AVAILABLE &gt; 0;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36392" y="96012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36392" y="960120"/>
            <a:ext cx="274320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36392" y="960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36392" y="1280160"/>
            <a:ext cx="2743200" cy="1554480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27832" y="13258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MEMBERS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LAST_NAME ASC;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44184" y="96012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44184" y="960120"/>
            <a:ext cx="274320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44184" y="960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44184" y="1280160"/>
            <a:ext cx="2743200" cy="1554480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35624" y="13258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FINES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AMOUNT DESC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5;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8600" y="2990088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2990088"/>
            <a:ext cx="274320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29900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BETWEEN/LIKE/IN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" y="3310128"/>
            <a:ext cx="2743200" cy="1554480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355848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BOOKS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YEAR_PUBLISHED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BETWEEN 2000 AND 2020;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MEMBERS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LAST_NAME LIKE 'D%';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136392" y="2990088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36392" y="2990088"/>
            <a:ext cx="274320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36392" y="29900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136392" y="3310128"/>
            <a:ext cx="2743200" cy="1554480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27832" y="3355848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B.TITLE,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A.FIRST_NAME, A.LAST_NAME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BOOKS B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AUTHORS 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B.ID_AUTHOR=A.ID_AUTHOR;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044184" y="2990088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44184" y="2990088"/>
            <a:ext cx="274320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44184" y="29900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044184" y="3310128"/>
            <a:ext cx="2743200" cy="1554480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35624" y="3355848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M.FIRST_NAME,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BR.BORROW_DATE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MEMBERS 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BORROWING_RECORDS BR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M.ID_MEMBERS=BR.ID_MEMBERS;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 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548640" cy="502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960120"/>
            <a:ext cx="1645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60120"/>
            <a:ext cx="16459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960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1344168"/>
            <a:ext cx="1645920" cy="3547872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389888"/>
            <a:ext cx="149961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total_members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MEMBERS;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Result: 9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947672" y="960120"/>
            <a:ext cx="1645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47672" y="960120"/>
            <a:ext cx="16459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47672" y="960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MAX/MIN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36392" y="9601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947672" y="1344168"/>
            <a:ext cx="1645920" cy="3547872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20824" y="1389888"/>
            <a:ext cx="149961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MAX(AMOUNT) AS highest,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MIN(AMOUNT) AS lowest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FINES;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712464" y="960120"/>
            <a:ext cx="1645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12464" y="960120"/>
            <a:ext cx="16459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12464" y="960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01184" y="9601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712464" y="1344168"/>
            <a:ext cx="1645920" cy="3547872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85616" y="1389888"/>
            <a:ext cx="149961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AVG(AMOUNT)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average_fine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FINES;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77256" y="960120"/>
            <a:ext cx="1645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77256" y="960120"/>
            <a:ext cx="16459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77256" y="960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65976" y="9601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pts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477256" y="1344168"/>
            <a:ext cx="1645920" cy="3547872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50408" y="1389888"/>
            <a:ext cx="149961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M.LAST_NAME,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COUNT(BR.RECORD_ID)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nb_borrowings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MEMBERS 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BORROWING_RECORDS BR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M.ID_MEMBERS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=BR.ID_MEMBERS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M.ID_MEMBERS;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242048" y="960120"/>
            <a:ext cx="1645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42048" y="960120"/>
            <a:ext cx="16459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42048" y="960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30768" y="9601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pts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242048" y="1344168"/>
            <a:ext cx="1645920" cy="3547872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1389888"/>
            <a:ext cx="149961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M.LAST_NAME,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AS total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MEMBERS 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BORROWING_RECORDS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BR ON ...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M.ID_MEMBERS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COUNT(*) &gt; 1;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Query — Summary Report 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548640" cy="502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02920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JOIN + GROUP BY + HAVING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307592"/>
            <a:ext cx="5029200" cy="3584448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71600"/>
            <a:ext cx="475488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m.LAST_NAME, m.FIRST_NAME,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COUNT(f.FINE_ID)  AS nb_fines,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SUM(f.AMOUNT)     AS total_due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MEMBERS 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BORROWING_RECORDS br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m.ID_MEMBERS = br.ID_MEMBERS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FINES 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br.RECORD_ID = f.RECORD_ID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f.PAID = FALSE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m.ID_MEMBERS,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m.LAST_NAME, m.FIRST_NAME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total_due &gt; 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total_due DESC;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0" y="987552"/>
            <a:ext cx="3429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0" y="987552"/>
            <a:ext cx="18288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42432" y="10607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(3 tables)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42432" y="13716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MEMBERS, BORROWING_RECORDS and FINES to cross all data in one query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0" y="1947672"/>
            <a:ext cx="3429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0" y="1947672"/>
            <a:ext cx="18288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42432" y="20208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42432" y="23317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only unpaid fines (PAID = FALSE) before any grouping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0" y="2907792"/>
            <a:ext cx="3429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0" y="2907792"/>
            <a:ext cx="18288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42432" y="29809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42432" y="32918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rows by member to compute individual totals per person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0" y="3867912"/>
            <a:ext cx="3429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0" y="3867912"/>
            <a:ext cx="182880" cy="82296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42432" y="39410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42432" y="42519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only members whose total unpaid amount is greater than 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1375</Words>
  <Application>Microsoft Office PowerPoint</Application>
  <PresentationFormat>Affichage à l'écran (16:9)</PresentationFormat>
  <Paragraphs>263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CS27 – Library Management System</dc:title>
  <dc:subject>PptxGenJS Presentation</dc:subject>
  <dc:creator>PptxGenJS</dc:creator>
  <cp:lastModifiedBy>casimir birba</cp:lastModifiedBy>
  <cp:revision>4</cp:revision>
  <dcterms:created xsi:type="dcterms:W3CDTF">2026-03-21T11:44:49Z</dcterms:created>
  <dcterms:modified xsi:type="dcterms:W3CDTF">2026-03-23T13:19:52Z</dcterms:modified>
</cp:coreProperties>
</file>