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0D7377">
                <a:alpha val="2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The Relational Model &amp; Databases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423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4BD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End-of-Semester Group Project — Scenario 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5303520" cy="192024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077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 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1868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OUEDRAOGO S. Landry Romuald  (Group Leader)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346557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BIRBA Casimir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712464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DIALLO Maimata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SANFO Madi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YAMEOGO Leonne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453128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ZONGO Abdel Sadeck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4818888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  |  March 2026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📚</a:t>
            </a:r>
            <a:endParaRPr lang="en-US" sz="7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selected Scenario 4 — Library Management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books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their details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93392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93392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993392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93392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library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712464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12464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✍️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712464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12464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of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31536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31536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31536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150608" y="1417320"/>
            <a:ext cx="16002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417320"/>
            <a:ext cx="160020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0608" y="14173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150608" y="1920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233172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 for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Model, implement and query a fully functional relational database to manage a library system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&amp; Attributes — Part 1.1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ID_AUTHOR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author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FIRST_NAME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NATIONALITY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36392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27832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ID_BOOK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27832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one ID per book title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27832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TITLE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27832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PUBLISHER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7832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YEAR_PUBLISHED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27832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COPIES_TOTAL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27832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COPIES_AVAILABLE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044184" y="9601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35624" y="130759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ID_MEMBERS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35624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member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35624" y="181051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35624" y="18470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FIRST_NAME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35624" y="204825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LAST_NAME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135624" y="224942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35624" y="245059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PHONE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135624" y="26517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MEMBERSHIP_DATE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28600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28600" y="306324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86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20040" y="3410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RECORD_ID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20040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unique per borrowing event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320040" y="391363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BORROW_DATE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20040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DUE_DATE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0040" y="4352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RETURN_DATE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36392" y="306324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136392" y="306324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36392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227832" y="34107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FINE_ID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27832" y="36393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Auto-incremented INT — one fine per late record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227832" y="3913632"/>
            <a:ext cx="2560320" cy="1828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27832" y="3950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AMOUNT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227832" y="41513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PAID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227832" y="43525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FINE_DATE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&amp; Primary Key Justification — Part 1.2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828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33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9144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051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29000" y="10332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344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ID_AUTHOR in BOOKS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89320" y="1005840"/>
            <a:ext cx="2788920" cy="804672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0515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ID_AUTHOR chosen as PK: each author has a unique identity independent of their name.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74320" y="196596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965960"/>
            <a:ext cx="182880" cy="9144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2057400"/>
            <a:ext cx="91440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0574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235000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ID_BOOK in BORROWING_RECORDS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9320" y="2011680"/>
            <a:ext cx="2788920" cy="804672"/>
          </a:xfrm>
          <a:prstGeom prst="rect">
            <a:avLst/>
          </a:prstGeom>
          <a:solidFill>
            <a:srgbClr val="1B2A4A">
              <a:alpha val="10000"/>
            </a:srgbClr>
          </a:solidFill>
          <a:ln w="12700">
            <a:solidFill>
              <a:srgbClr val="1B2A4A">
                <a:alpha val="3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205740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ID_BOOK chosen as PK: a book title may exist in multiple editions — ID ensures uniqueness.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97180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971800"/>
            <a:ext cx="18288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44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23160" y="3063240"/>
            <a:ext cx="914400" cy="25603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0632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29000" y="30449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335584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ID_MEMBERS in BORROWING_RECORDS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3017520"/>
            <a:ext cx="2788920" cy="804672"/>
          </a:xfrm>
          <a:prstGeom prst="rect">
            <a:avLst/>
          </a:prstGeom>
          <a:solidFill>
            <a:srgbClr val="0D7377">
              <a:alpha val="10000"/>
            </a:srgbClr>
          </a:solidFill>
          <a:ln w="12700">
            <a:solidFill>
              <a:srgbClr val="0D7377">
                <a:alpha val="3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80760" y="30632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ID_MEMBERS chosen as PK: two members may share the same name — ID avoids confusion.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" y="3977640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977640"/>
            <a:ext cx="182880" cy="91440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4050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423160" y="4069080"/>
            <a:ext cx="914400" cy="25603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0690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2900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36168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RECORD_ID in FINES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89320" y="4023360"/>
            <a:ext cx="2788920" cy="804672"/>
          </a:xfrm>
          <a:prstGeom prst="rect">
            <a:avLst/>
          </a:prstGeom>
          <a:solidFill>
            <a:srgbClr val="F2A900">
              <a:alpha val="10000"/>
            </a:srgbClr>
          </a:solidFill>
          <a:ln w="12700">
            <a:solidFill>
              <a:srgbClr val="F2A900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4069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RECORD_ID chosen as PK: each borrowing event is unique — one fine maximum per event.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Data Model (MCD) — Part 1.3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1097280"/>
            <a:ext cx="201168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097280"/>
            <a:ext cx="2011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880" y="1389888"/>
            <a:ext cx="2011680" cy="219456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ID_AUTHOR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82880" y="160934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60934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82880" y="1828800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288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82880" y="204825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" y="204825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267712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2608" y="22677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743200" y="868680"/>
            <a:ext cx="20116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0" y="868680"/>
            <a:ext cx="2011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0" y="8686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161288"/>
            <a:ext cx="2011680" cy="219456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11612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ID_BOOK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0" y="138074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52928" y="138074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0" y="1600200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52928" y="16002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0" y="181965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52928" y="181965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YEAR_PUBLISHED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0" y="2039112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52928" y="20391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COPIES_TOTAL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0" y="225856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52928" y="22585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COPIES_AVAILABLE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766560" y="1097280"/>
            <a:ext cx="201168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766560" y="1097280"/>
            <a:ext cx="2011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109728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766560" y="1389888"/>
            <a:ext cx="2011680" cy="219456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9712" y="138988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ID_MEMBERS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766560" y="160934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76288" y="160934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1828800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76288" y="182880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766560" y="204825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76288" y="204825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766560" y="2267712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76288" y="2267712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766560" y="2487168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76288" y="2487168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MEMBERSHIP_DATE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926080" y="310896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2926080" y="3108960"/>
            <a:ext cx="2011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0" y="31089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926080" y="3401568"/>
            <a:ext cx="2011680" cy="219456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999232" y="34015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RECORD_ID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926080" y="362102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35808" y="362102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BORROW_DATE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926080" y="3840480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35808" y="384048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2926080" y="405993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035808" y="405993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2880" y="3246120"/>
            <a:ext cx="20116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82880" y="3246120"/>
            <a:ext cx="2011680" cy="2926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82880" y="32461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182880" y="3538728"/>
            <a:ext cx="2011680" cy="219456"/>
          </a:xfrm>
          <a:prstGeom prst="rect">
            <a:avLst/>
          </a:prstGeom>
          <a:solidFill>
            <a:srgbClr val="FFF8E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56032" y="353872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6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FINE_ID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82880" y="3758184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" y="3758184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82880" y="3977640"/>
            <a:ext cx="2011680" cy="21945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92608" y="397764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82880" y="4197096"/>
            <a:ext cx="2011680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4197096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FINE_DATE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901952" y="1463040"/>
            <a:ext cx="1005840" cy="457200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901952" y="14630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5577840" y="2560320"/>
            <a:ext cx="1005840" cy="457200"/>
          </a:xfrm>
          <a:prstGeom prst="rect">
            <a:avLst/>
          </a:prstGeom>
          <a:solidFill>
            <a:srgbClr val="1B2A4A">
              <a:alpha val="85000"/>
            </a:srgbClr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577840" y="25603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BORROWS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3246120" y="2377440"/>
            <a:ext cx="1005840" cy="457200"/>
          </a:xfrm>
          <a:prstGeom prst="rect">
            <a:avLst/>
          </a:prstGeom>
          <a:solidFill>
            <a:srgbClr val="0D7377">
              <a:alpha val="8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246120" y="2377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691640" y="3566160"/>
            <a:ext cx="1005840" cy="457200"/>
          </a:xfrm>
          <a:prstGeom prst="rect">
            <a:avLst/>
          </a:prstGeom>
          <a:solidFill>
            <a:srgbClr val="F2A900">
              <a:alpha val="85000"/>
            </a:srgbClr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691640" y="356616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2194560" y="1615745"/>
            <a:ext cx="-292608" cy="75895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212848" y="146761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2907792" y="1691640"/>
            <a:ext cx="-164592" cy="-22768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2926080" y="150876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3749040" y="2569464"/>
            <a:ext cx="0" cy="-19202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3794760" y="2587752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749040" y="2834640"/>
            <a:ext cx="-18288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794760" y="2852928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6766560" y="1947672"/>
            <a:ext cx="-182880" cy="8412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446520" y="1777594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577840" y="2788920"/>
            <a:ext cx="-640080" cy="69860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285232" y="2834640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2926080" y="3866083"/>
            <a:ext cx="-228600" cy="-71323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880360" y="373989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1691640" y="3794760"/>
            <a:ext cx="502920" cy="82296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212848" y="3750869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82880" y="4754880"/>
            <a:ext cx="8778240" cy="256032"/>
          </a:xfrm>
          <a:prstGeom prst="rect">
            <a:avLst/>
          </a:prstGeom>
          <a:solidFill>
            <a:srgbClr val="1B2A4A">
              <a:alpha val="15000"/>
            </a:srgbClr>
          </a:solidFill>
          <a:ln w="12700">
            <a:solidFill>
              <a:srgbClr val="1B2A4A">
                <a:alpha val="15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74320" y="4773168"/>
            <a:ext cx="8595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Primary Key  |  Rectangles = Entities  |  Colored boxes = Relationships  |  Numbers = Cardinalities (1 or N)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— Part 1.4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Form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books in one cell: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BOOK_TITLES = "Les Misérables, Beloved"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Non-atomic values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4160520"/>
            <a:ext cx="1828800" cy="502920"/>
          </a:xfrm>
          <a:prstGeom prst="rect">
            <a:avLst/>
          </a:prstGeom>
          <a:solidFill>
            <a:srgbClr val="C0392B">
              <a:alpha val="15000"/>
            </a:srgbClr>
          </a:solidFill>
          <a:ln w="12700">
            <a:solidFill>
              <a:srgbClr val="C0392B">
                <a:alpha val="1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Split into separate rows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58568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04872" y="960120"/>
            <a:ext cx="2011680" cy="41148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4872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496312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96312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&amp; book details repeated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borrowing row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Partial dependencies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96312" y="4160520"/>
            <a:ext cx="1828800" cy="502920"/>
          </a:xfrm>
          <a:prstGeom prst="rect">
            <a:avLst/>
          </a:prstGeom>
          <a:solidFill>
            <a:srgbClr val="F2A900">
              <a:alpha val="15000"/>
            </a:srgbClr>
          </a:solidFill>
          <a:ln w="12700">
            <a:solidFill>
              <a:srgbClr val="F2A900">
                <a:alpha val="15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96312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Separate MEMBERS &amp; BOOKS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34840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81144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81144" y="960120"/>
            <a:ext cx="20116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81144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72584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72584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details depend on BOOK,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AMOUNT/PAID mixed in borrowings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Transitive dependencies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72584" y="4160520"/>
            <a:ext cx="1828800" cy="502920"/>
          </a:xfrm>
          <a:prstGeom prst="rect">
            <a:avLst/>
          </a:prstGeom>
          <a:solidFill>
            <a:srgbClr val="0E7C7B">
              <a:alpha val="15000"/>
            </a:srgbClr>
          </a:solidFill>
          <a:ln w="12700">
            <a:solidFill>
              <a:srgbClr val="0E7C7B">
                <a:alpha val="1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72584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Create AUTHORS &amp; FINES tables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11112" y="2468880"/>
            <a:ext cx="128016" cy="20116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57416" y="96012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57416" y="960120"/>
            <a:ext cx="20116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57416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48856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48856" y="1874520"/>
            <a:ext cx="1828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clean tables: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· BOOKS · MEMBERS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BORROWING_RECORDS · FINES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48856" y="4160520"/>
            <a:ext cx="1828800" cy="502920"/>
          </a:xfrm>
          <a:prstGeom prst="rect">
            <a:avLst/>
          </a:prstGeom>
          <a:solidFill>
            <a:srgbClr val="27AE60">
              <a:alpha val="15000"/>
            </a:srgbClr>
          </a:solidFill>
          <a:ln w="12700">
            <a:solidFill>
              <a:srgbClr val="27AE60">
                <a:alpha val="1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48856" y="4187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Final normalized schema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 — Part 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33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 separated from BOOKS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371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author details inside BOOKS would repeat FIRST_NAME and LAST_NAME on every book row. A separate AUTHORS table eliminates this redundancy.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Avoids data duplication — follows 3NF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332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10332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FINE_ID removed from BORROWING_RECORDS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3716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schema had FINE_ID in BORROWING_RECORDS AND RECORD_ID in FINES — creating a circular dependency that breaks INSERT operations.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0" y="18745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18928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Circular dependency eliminated — cleaner referential integrity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860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3317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AUTO_INCREMENT on all Primary Keys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2743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AUTO_INCREMENT integers as PKs ensures every row gets a unique identifier automatically, without manual input or risk of collision.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2461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264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Guarantees uniqueness — simplifies INSERT statements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709160" y="23317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3317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24048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03520" y="2404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RESTRICT on all Foreign Keys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37760" y="27432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Restricting deletion of parent rows prevents orphaned records. For example, you cannot delete an AUTHOR who still has BOOKS referencing them.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937760" y="32461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2644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Referential integrity enforced — ERROR 1451 demonstrates this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2860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37033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776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(CURRENT_DATE) on date columns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114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MEMBERSHIP_DATE and BORROW_DATE default to today's date, reducing required fields during INSERT and reflecting real-world library operations.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7200" y="46177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636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Realistic defaults — fewer required fields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370332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703320"/>
            <a:ext cx="164592" cy="12344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77647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💯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303520" y="37764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DECIMAL(10,2) for AMOUNT in FINES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37760" y="411480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DECIMAL instead of FLOAT ensures precise monetary calculations without floating-point rounding errors — critical for financial data.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37760" y="4617720"/>
            <a:ext cx="3886200" cy="228600"/>
          </a:xfrm>
          <a:prstGeom prst="rect">
            <a:avLst/>
          </a:prstGeom>
          <a:solidFill>
            <a:srgbClr val="0D7377">
              <a:alpha val="12000"/>
            </a:srgbClr>
          </a:solidFill>
          <a:ln w="12700">
            <a:solidFill>
              <a:srgbClr val="0D7377">
                <a:alpha val="1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6360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Accurate monetary values — no rounding errors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Implementation — Part 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— CREATE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416052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38862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MEMBERS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ID_MEMBERS  INT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AUTO_INCREMENT,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FIRST_NAME  VARCHAR(100)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 VARCHAR(254)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MEMBERSHIP_DATE DATE NOT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(CURRENT_DATE),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PRIMARY KEY (ID_MEMBERS)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1605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— UPDATE, DELETE &amp; Integrity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307592"/>
            <a:ext cx="416052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88620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UPDATE: reduce available copies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BOOKS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COPIES_AVAILABLE 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COPIES_AVAILABLE - 1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ID_BOOK = 3;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DELETE: remove paid fine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FINES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FINE_ID=5 AND PAID=TRUE;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VIOLATION → ERROR 1451 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MEMBERS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ID_MEMBERS = 2;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Queries — Part 2.4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960120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TITLE, PUBLISHER,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COPIES_AVAILABLE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COPIES_AVAILABLE &gt; 0;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136392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36392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36392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39512" y="960120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39512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136392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27832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LAST_NAME ASC;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44184" y="96012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44184" y="960120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44184" y="960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47304" y="960120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47304" y="960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044184" y="1280160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35624" y="13258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FINES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AMOUNT DESC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BETWEEN/LIKE/IN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331720" y="2990088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2990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28600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BOOKS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YEAR_PUBLISHED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BETWEEN 2000 AND 2020;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LAST_NAME LIKE 'D%';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136392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136392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36392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JOIN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39512" y="2990088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39512" y="2990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136392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27832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B.TITLE,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A.FIRST_NAME, A.LAST_NAME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BOOKS B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AUTHORS A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B.ID_AUTHOR=A.ID_AUTHOR;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044184" y="2990088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44184" y="2990088"/>
            <a:ext cx="274320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44184" y="2990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147304" y="2990088"/>
            <a:ext cx="640080" cy="32004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47304" y="29900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44184" y="3310128"/>
            <a:ext cx="2743200" cy="155448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35624" y="3355848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M.FIRST_NAME,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BR.BORROW_DATE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BORROWING_RECORDS BR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M.ID_MEMBERS=BR.ID_MEMBERS;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 — Part 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2880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371600" y="960120"/>
            <a:ext cx="4572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total_members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MEMBERS;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Result: 9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47672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947672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7672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960120"/>
            <a:ext cx="4572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47672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20824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MAX(AMOUNT) AS highest,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MIN(AMOUNT) AS lowest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FINES;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712464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712464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12464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01184" y="960120"/>
            <a:ext cx="4572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01184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pts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12464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85616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AVG(AMOUNT)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average_fine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FINES;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77256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77256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77256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65976" y="960120"/>
            <a:ext cx="4572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65976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477256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50408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COUNT(BR.RECORD_ID)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nb_borrowings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 BR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=BR.ID_MEMBERS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M.ID_MEMBERS;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42048" y="960120"/>
            <a:ext cx="1645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242048" y="960120"/>
            <a:ext cx="164592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42048" y="96012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430768" y="960120"/>
            <a:ext cx="457200" cy="384048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9601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pts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242048" y="1344168"/>
            <a:ext cx="1645920" cy="3547872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1389888"/>
            <a:ext cx="1499616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BR ON ...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1;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Query — Summary Report (3 pts)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548640" cy="50292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JOIN + GROUP BY + HAVING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307592"/>
            <a:ext cx="5029200" cy="3584448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71600"/>
            <a:ext cx="4754880" cy="345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m.LAST_NAME, m.FIRST_NAME,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COUNT(f.FINE_ID)  AS nb_fines,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SUM(f.AMOUNT)     AS total_due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MEMBERS 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BORROWING_RECORDS br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m.ID_MEMBERS = br.ID_MEMBERS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FINES 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br.RECORD_ID = f.RECORD_ID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f.PAID = FALSE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m.ID_MEMBERS,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m.LAST_NAME, m.FIRST_NAME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total_due &gt;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FF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total_due DESC;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0" y="98755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0" y="987552"/>
            <a:ext cx="1828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10607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(3 tables)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371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MEMBERS, BORROWING_RECORDS and FINES to cross all data in one query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0" y="194767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0" y="1947672"/>
            <a:ext cx="182880" cy="8229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42432" y="202082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742432" y="23317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only unpaid fines (PAID = FALSE) before any grouping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0" y="290779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0" y="2907792"/>
            <a:ext cx="182880" cy="8229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42432" y="29809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42432" y="3291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rows by member to compute individual totals per person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0" y="3867912"/>
            <a:ext cx="34290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0" y="3867912"/>
            <a:ext cx="182880" cy="822960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42432" y="394106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42432" y="425196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members whose total unpaid amount is greater than 0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CS27 – Library Management System</dc:title>
  <dc:subject>PptxGenJS Presentation</dc:subject>
  <dc:creator>PptxGenJS</dc:creator>
  <cp:lastModifiedBy>PptxGenJS</cp:lastModifiedBy>
  <cp:revision>1</cp:revision>
  <dcterms:created xsi:type="dcterms:W3CDTF">2026-03-21T11:44:49Z</dcterms:created>
  <dcterms:modified xsi:type="dcterms:W3CDTF">2026-03-21T11:44:49Z</dcterms:modified>
</cp:coreProperties>
</file>